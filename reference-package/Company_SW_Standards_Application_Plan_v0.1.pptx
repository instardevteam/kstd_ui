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b296729c84835" /><Relationship Type="http://schemas.openxmlformats.org/officeDocument/2006/relationships/extended-properties" Target="/docProps/app.xml" Id="R01c43ab28e514012" /><Relationship Type="http://schemas.openxmlformats.org/officeDocument/2006/relationships/officeDocument" Target="/ppt/presentation.xml" Id="Rc36a05310c4c4b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e7585a7c104eed"/>
  </p:sldMasterIdLst>
  <p:notesMasterIdLst>
    <p:notesMasterId xmlns:r="http://schemas.openxmlformats.org/officeDocument/2006/relationships" r:id="R720c05507fb74941"/>
  </p:notesMasterIdLst>
  <p:sldIdLst>
    <p:sldId xmlns:r="http://schemas.openxmlformats.org/officeDocument/2006/relationships" id="256" r:id="R399ec86bf6614dcf"/>
    <p:sldId xmlns:r="http://schemas.openxmlformats.org/officeDocument/2006/relationships" id="257" r:id="Rb7a3d4740e5f4fed"/>
    <p:sldId xmlns:r="http://schemas.openxmlformats.org/officeDocument/2006/relationships" id="258" r:id="R74e081f32de7495c"/>
    <p:sldId xmlns:r="http://schemas.openxmlformats.org/officeDocument/2006/relationships" id="259" r:id="R2e8d69e9ef9b4098"/>
    <p:sldId xmlns:r="http://schemas.openxmlformats.org/officeDocument/2006/relationships" id="260" r:id="R278c303ee1f24973"/>
    <p:sldId xmlns:r="http://schemas.openxmlformats.org/officeDocument/2006/relationships" id="261" r:id="Rceeed81605054980"/>
    <p:sldId xmlns:r="http://schemas.openxmlformats.org/officeDocument/2006/relationships" id="262" r:id="R3503dad7a63f436a"/>
    <p:sldId xmlns:r="http://schemas.openxmlformats.org/officeDocument/2006/relationships" id="263" r:id="R914f74abfc714d5b"/>
    <p:sldId xmlns:r="http://schemas.openxmlformats.org/officeDocument/2006/relationships" id="264" r:id="R1e3ce97f341f4b9d"/>
    <p:sldId xmlns:r="http://schemas.openxmlformats.org/officeDocument/2006/relationships" id="265" r:id="R64508533ab344a35"/>
    <p:sldId xmlns:r="http://schemas.openxmlformats.org/officeDocument/2006/relationships" id="266" r:id="Rcc14c05b3cf54494"/>
    <p:sldId xmlns:r="http://schemas.openxmlformats.org/officeDocument/2006/relationships" id="267" r:id="R9dd2506b42c14121"/>
    <p:sldId xmlns:r="http://schemas.openxmlformats.org/officeDocument/2006/relationships" id="268" r:id="R080c1e55e7894a5e"/>
    <p:sldId xmlns:r="http://schemas.openxmlformats.org/officeDocument/2006/relationships" id="269" r:id="Ra798a0b68d764dbf"/>
    <p:sldId xmlns:r="http://schemas.openxmlformats.org/officeDocument/2006/relationships" id="270" r:id="Rc06095724363476b"/>
    <p:sldId xmlns:r="http://schemas.openxmlformats.org/officeDocument/2006/relationships" id="271" r:id="Ra46f75e49cf2482b"/>
    <p:sldId xmlns:r="http://schemas.openxmlformats.org/officeDocument/2006/relationships" id="272" r:id="Rd31c20bc87414dac"/>
    <p:sldId xmlns:r="http://schemas.openxmlformats.org/officeDocument/2006/relationships" id="273" r:id="R6d168064eac34fab"/>
    <p:sldId xmlns:r="http://schemas.openxmlformats.org/officeDocument/2006/relationships" id="274" r:id="R407254a616d94416"/>
    <p:sldId xmlns:r="http://schemas.openxmlformats.org/officeDocument/2006/relationships" id="275" r:id="R8c61e193a8c6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0b1b792cfc4db5" /><Relationship Type="http://schemas.openxmlformats.org/officeDocument/2006/relationships/slideMaster" Target="/ppt/slideMasters/slideMaster1.xml" Id="R83e7585a7c104eed" /><Relationship Type="http://schemas.openxmlformats.org/officeDocument/2006/relationships/notesMaster" Target="/ppt/notesMasters/notesMaster1.xml" Id="R720c05507fb74941" /><Relationship Type="http://schemas.openxmlformats.org/officeDocument/2006/relationships/presProps" Target="/ppt/presProps.xml" Id="R81b5f3c877ea40a0" /><Relationship Type="http://schemas.openxmlformats.org/officeDocument/2006/relationships/tableStyles" Target="/ppt/tableStyles.xml" Id="R6aaefe7b09564546" /><Relationship Type="http://schemas.openxmlformats.org/officeDocument/2006/relationships/slide" Target="/ppt/slides/slide1.xml" Id="R399ec86bf6614dcf" /><Relationship Type="http://schemas.openxmlformats.org/officeDocument/2006/relationships/slide" Target="/ppt/slides/slide2.xml" Id="Rb7a3d4740e5f4fed" /><Relationship Type="http://schemas.openxmlformats.org/officeDocument/2006/relationships/slide" Target="/ppt/slides/slide3.xml" Id="R74e081f32de7495c" /><Relationship Type="http://schemas.openxmlformats.org/officeDocument/2006/relationships/slide" Target="/ppt/slides/slide4.xml" Id="R2e8d69e9ef9b4098" /><Relationship Type="http://schemas.openxmlformats.org/officeDocument/2006/relationships/slide" Target="/ppt/slides/slide5.xml" Id="R278c303ee1f24973" /><Relationship Type="http://schemas.openxmlformats.org/officeDocument/2006/relationships/slide" Target="/ppt/slides/slide6.xml" Id="Rceeed81605054980" /><Relationship Type="http://schemas.openxmlformats.org/officeDocument/2006/relationships/slide" Target="/ppt/slides/slide7.xml" Id="R3503dad7a63f436a" /><Relationship Type="http://schemas.openxmlformats.org/officeDocument/2006/relationships/slide" Target="/ppt/slides/slide8.xml" Id="R914f74abfc714d5b" /><Relationship Type="http://schemas.openxmlformats.org/officeDocument/2006/relationships/slide" Target="/ppt/slides/slide9.xml" Id="R1e3ce97f341f4b9d" /><Relationship Type="http://schemas.openxmlformats.org/officeDocument/2006/relationships/slide" Target="/ppt/slides/slide10.xml" Id="R64508533ab344a35" /><Relationship Type="http://schemas.openxmlformats.org/officeDocument/2006/relationships/slide" Target="/ppt/slides/slide11.xml" Id="Rcc14c05b3cf54494" /><Relationship Type="http://schemas.openxmlformats.org/officeDocument/2006/relationships/slide" Target="/ppt/slides/slide12.xml" Id="R9dd2506b42c14121" /><Relationship Type="http://schemas.openxmlformats.org/officeDocument/2006/relationships/slide" Target="/ppt/slides/slide13.xml" Id="R080c1e55e7894a5e" /><Relationship Type="http://schemas.openxmlformats.org/officeDocument/2006/relationships/slide" Target="/ppt/slides/slide14.xml" Id="Ra798a0b68d764dbf" /><Relationship Type="http://schemas.openxmlformats.org/officeDocument/2006/relationships/slide" Target="/ppt/slides/slide15.xml" Id="Rc06095724363476b" /><Relationship Type="http://schemas.openxmlformats.org/officeDocument/2006/relationships/slide" Target="/ppt/slides/slide16.xml" Id="Ra46f75e49cf2482b" /><Relationship Type="http://schemas.openxmlformats.org/officeDocument/2006/relationships/slide" Target="/ppt/slides/slide17.xml" Id="Rd31c20bc87414dac" /><Relationship Type="http://schemas.openxmlformats.org/officeDocument/2006/relationships/slide" Target="/ppt/slides/slide18.xml" Id="R6d168064eac34fab" /><Relationship Type="http://schemas.openxmlformats.org/officeDocument/2006/relationships/slide" Target="/ppt/slides/slide19.xml" Id="R407254a616d94416" /><Relationship Type="http://schemas.openxmlformats.org/officeDocument/2006/relationships/slide" Target="/ppt/slides/slide20.xml" Id="R8c61e193a8c6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62ffc9b4c2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mpany Standards">
      <a:dk1>
        <a:srgbClr val="000000"/>
      </a:dk1>
      <a:lt1>
        <a:srgbClr val="FFFFFF"/>
      </a:lt1>
      <a:dk2>
        <a:srgbClr val="142C48"/>
      </a:dk2>
      <a:lt2>
        <a:srgbClr val="D2DBE5"/>
      </a:lt2>
      <a:accent1>
        <a:srgbClr val="195DB6"/>
      </a:accent1>
      <a:accent2>
        <a:srgbClr val="4E759E"/>
      </a:accent2>
      <a:accent3>
        <a:srgbClr val="66788B"/>
      </a:accent3>
      <a:accent4>
        <a:srgbClr val="9C6722"/>
      </a:accent4>
      <a:accent5>
        <a:srgbClr val="455A73"/>
      </a:accent5>
      <a:accent6>
        <a:srgbClr val="547C70"/>
      </a:accent6>
      <a:hlink>
        <a:srgbClr val="195DB6"/>
      </a:hlink>
      <a:folHlink>
        <a:srgbClr val="5F4B8B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ompany Standard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667dd7a58848ca" /><Relationship Type="http://schemas.openxmlformats.org/officeDocument/2006/relationships/notesMaster" Target="/ppt/notesMasters/notesMaster1.xml" Id="Rfa24efacb70d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aeb84d4c6241bd" /><Relationship Type="http://schemas.openxmlformats.org/officeDocument/2006/relationships/notesMaster" Target="/ppt/notesMasters/notesMaster1.xml" Id="Rd007d777427f4d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fe0f6d24d840b0" /><Relationship Type="http://schemas.openxmlformats.org/officeDocument/2006/relationships/notesMaster" Target="/ppt/notesMasters/notesMaster1.xml" Id="R25bb92fd39a641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f9fd40d3c49d6" /><Relationship Type="http://schemas.openxmlformats.org/officeDocument/2006/relationships/notesMaster" Target="/ppt/notesMasters/notesMaster1.xml" Id="R18cbf241cc0444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4e949ab43a45b0" /><Relationship Type="http://schemas.openxmlformats.org/officeDocument/2006/relationships/notesMaster" Target="/ppt/notesMasters/notesMaster1.xml" Id="R08a49804ea34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c2b501b95459f" /><Relationship Type="http://schemas.openxmlformats.org/officeDocument/2006/relationships/notesMaster" Target="/ppt/notesMasters/notesMaster1.xml" Id="Rb7b325fed1e647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eee125f426486b" /><Relationship Type="http://schemas.openxmlformats.org/officeDocument/2006/relationships/notesMaster" Target="/ppt/notesMasters/notesMaster1.xml" Id="Re45fc8143602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abc4ee75df494c" /><Relationship Type="http://schemas.openxmlformats.org/officeDocument/2006/relationships/notesMaster" Target="/ppt/notesMasters/notesMaster1.xml" Id="Rc95b13d651e24f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68ba326f0f491c" /><Relationship Type="http://schemas.openxmlformats.org/officeDocument/2006/relationships/notesMaster" Target="/ppt/notesMasters/notesMaster1.xml" Id="Rc3fac9f19d754f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2dccb5d1d549fc" /><Relationship Type="http://schemas.openxmlformats.org/officeDocument/2006/relationships/notesMaster" Target="/ppt/notesMasters/notesMaster1.xml" Id="R11f8c7ed091d47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5113eed2e4893" /><Relationship Type="http://schemas.openxmlformats.org/officeDocument/2006/relationships/notesMaster" Target="/ppt/notesMasters/notesMaster1.xml" Id="Rd2870a44f8514a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a508752dc24324" /><Relationship Type="http://schemas.openxmlformats.org/officeDocument/2006/relationships/notesMaster" Target="/ppt/notesMasters/notesMaster1.xml" Id="Rffc63170271645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0538149fb044bf" /><Relationship Type="http://schemas.openxmlformats.org/officeDocument/2006/relationships/notesMaster" Target="/ppt/notesMasters/notesMaster1.xml" Id="R8e5c927d576844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754edc72344554" /><Relationship Type="http://schemas.openxmlformats.org/officeDocument/2006/relationships/notesMaster" Target="/ppt/notesMasters/notesMaster1.xml" Id="R992b47fc2a1d4e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fe929feecc4cdd" /><Relationship Type="http://schemas.openxmlformats.org/officeDocument/2006/relationships/notesMaster" Target="/ppt/notesMasters/notesMaster1.xml" Id="R09f6fdcf11be4f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59958bfb414335" /><Relationship Type="http://schemas.openxmlformats.org/officeDocument/2006/relationships/notesMaster" Target="/ppt/notesMasters/notesMaster1.xml" Id="R5f10b650f4764f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26f0d6173f43bb" /><Relationship Type="http://schemas.openxmlformats.org/officeDocument/2006/relationships/notesMaster" Target="/ppt/notesMasters/notesMaster1.xml" Id="R7b5478ef606b4e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39f78f2e584fbf" /><Relationship Type="http://schemas.openxmlformats.org/officeDocument/2006/relationships/notesMaster" Target="/ppt/notesMasters/notesMaster1.xml" Id="R1979953386ac48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d1a24f2b6b4681" /><Relationship Type="http://schemas.openxmlformats.org/officeDocument/2006/relationships/notesMaster" Target="/ppt/notesMasters/notesMaster1.xml" Id="R813857c292fd47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03a5f3fc6648a1" /><Relationship Type="http://schemas.openxmlformats.org/officeDocument/2006/relationships/notesMaster" Target="/ppt/notesMasters/notesMaster1.xml" Id="Rf6f835d43c6b44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「디지털 정부 UI,UX 가이드라인」 수정본(2025.8.), 총 1181 PDF 페이지. 첨부 「디지털 서비스 UIUX 가이드라인」변경 대비표(2025.8.), 2쪽.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https://www.mois.go.kr/frt/bbs/type001/commonSelectBoardArticle.do?bbsId=BBSMSTR_000000000045&amp;nttId=120220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https://www.rra.go.kr/ko/reference/kcsList_view.do?nb_seq=5247&amp;nb_type=6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https://owasp.org/projects/asvs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https://csrc.nist.gov/projects/ssdf/publications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지정 네이버 블로그 https://blog.naver.com/suresofttech/224119576754 는 본문을 확보하지 못했다.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보완 조사: https://apps.suresofttech.com/static/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https://misra.org.uk/misra-c/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https://misra.org.uk/product/misra-cpp2023/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https://eur-lex.europa.eu/eli/reg/2017/745/oj/eng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「디지털 정부 UI,UX 가이드라인」 수정본(2025.8.), 총 1181 PDF 페이지. 첨부 「디지털 서비스 UIUX 가이드라인」변경 대비표(2025.8.), 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https://www.rra.go.kr/ko/reference/kcsList_view.do?nb_seq=5247&amp;nb_type=6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작업 자료: coding_rules.json, krds_controls.json, kwcag22_inventory.json, wcag22_aa_inventory.json, inclusive_ux_rules.json.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KRDS 자동추출 색인: 구조 103개, 번호별 후보 725개, 상호작용 페이지 52개. 공식 표준 총수와 다르다.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「디지털 정부 UI,UX 가이드라인」 수정본(2025.8.), 총 1181 PDF 페이지. 첨부 「디지털 서비스 UIUX 가이드라인」변경 대비표(2025.8.), 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https://www.mois.go.kr/frt/bbs/type001/commonSelectBoardArticle.do?bbsId=BBSMSTR_000000000045&amp;nttId=120220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구조색인 103, 번호 후보 725, 비번호 상호작용 페이지 52. 번호 없는 스타일·예외·도형 표시 등급은 추가 대조 필요.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변경 대비표의 227/246/998쪽은 섹션 시작이다. 상세 수정 본문은 229~231/249/1007쪽.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https://www.rra.go.kr/ko/reference/kcsList_view.do?nb_seq=5247&amp;nb_type=6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https://www.w3.org/WAI/standards-guidelines/wcag/new-in-22/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https://www.w3.org/WAI/WCAG22/Understanding/target-size-minimum.html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https://www.w3.org/WAI/WCAG22/Understanding/target-size-enhanced.html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https://www.w3.org/WAI/people-use-web/user-stories/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https://www.w3.org/TR/coga-usable/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https://www.w3.org/WAI/test-evaluate/involving-users/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INC-001~012: 사용자 참여, 개인설정, 쉬운 한국어, 터치 목표, 상태표현, 입력복구, 기본 서비스 접근성, 첨부 대안, 표/차트 대안, 연락수단, 설정 개인정보 최소화, 범위와 결과 공개.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https://learn.microsoft.com/en-us/dotnet/core/releases-and-support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https://www.typescriptlang.org/tsconfig/strict.html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https://typescript-eslint.io/rules/no-floating-promises/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https://learn.microsoft.com/ko-kr/dotnet/csharp/fundamentals/coding-style/coding-conventions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관련 사내 규칙: COD-001~018.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https://owasp.org/projects/asvs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https://cheatsheetseries.owasp.org/cheatsheets/Authorization_Cheat_Sheet.html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https://cheatsheetseries.owasp.org/cheatsheets/File_Upload_Cheat_Sheet.html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https://community.owasp.org/attacks/CSV_Injection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관련 규칙: SEC-001~018. ASVS 전체 등급 준수 판정 범위는 별도.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「디지털 정부 UI,UX 가이드라인」 수정본(2025.8.), 총 1181 PDF 페이지. 첨부 「디지털 서비스 UIUX 가이드라인」변경 대비표(2025.8.), 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KRDS UI-056 텍스트 입력 필드, UI-068 오류, UI-069 입력폼.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https://www.w3.org/TR/WCAG22/#error-identification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https://www.w3.org/TR/WCAG22/#labels-or-instructions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https://www.w3.org/TR/WCAG22/#status-messages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https://www.w3.org/WAI/ARIA/apg/patterns/dialog-modal/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「디지털 정부 UI,UX 가이드라인」 수정본(2025.8.), 총 1181 PDF 페이지. 첨부 「디지털 서비스 UIUX 가이드라인」변경 대비표(2025.8.), 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KRDS UI-031 모달, UI-104~105 모달 접근성. 본문 387~398쪽.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https://www.w3.org/WAI/WCAG22/Understanding/dragging-movements.html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「디지털 정부 UI,UX 가이드라인」 수정본(2025.8.), 총 1181 PDF 페이지. 첨부 「디지털 서비스 UIUX 가이드라인」변경 대비표(2025.8.), 2쪽.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KRDS 본문 타이포그래피: 104/106/124쪽. 선명한 모드 대비: 123쪽(본문15:1, 제목/레이블/아이콘7:1, 시각보조4.5:1). 일반 대비의 4.5/7은 204쪽. 원문 스타일과 WCAG 기준을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https://www.w3.org/WAI/WCAG22/Understanding/contrast-minimum.html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https://www.w3.org/WAI/WCAG22/Understanding/reflow.html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https://www.w3.org/WAI/WCAG22/Understanding/non-text-contrast.html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https://www.w3.org/WAI/test-evaluate/tools/selecting/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https://www.w3.org/WAI/test-evaluate/involving-users/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작업 자료 manual_test_scenarios.json: 수동·사용자 시나리오 15개.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CODEX_Implementation_Prompt.txt, 기준일 2026-10-20, v0.1. 본 장표의 구체적 샘플 구성과 수치는 회사 제안이다.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https://www.mois.go.kr/frt/bbs/type001/commonSelectBoardArticle.do?bbsId=BBSMSTR_000000000045&amp;nttId=120220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https://www.rra.go.kr/ko/reference/kcsList_view.do?nb_seq=5247&amp;nb_type=6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https://www.w3.org/TR/WCAG22/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https://csrc.nist.gov/projects/ssdf/publications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https://owasp.org/projects/asvs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현행 법령은 사업 범위에 따라 별도 확인: https://www.law.go.kr/LSW/lsInfoP.do?lsiSeq=268533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0861223c643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a9e072aab4e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1ac3041ed44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e5471527945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ba56b521c4d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77c6a84194e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CC5AE7-FBC6-491B-BA95-2D9A9E9B4A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D06B42-42D3-4B47-9AB0-ACD64854E0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08E8DF-A533-4C3E-869A-B4F3E3D2D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739166-B017-43A0-A111-C3C325B3A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3797A8-4798-48AB-AD5C-683F1B6AF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A57BBB-A742-4295-879D-178CD959F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818517-5512-424E-A3DF-6BE1EB7649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A1047C-91FB-48DE-94B4-392B4196D3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3581E-27CB-482A-B939-EA10E0D0D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884F19-3FDC-493A-9A75-604EE1D34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7af4548344edf" /><Relationship Type="http://schemas.openxmlformats.org/officeDocument/2006/relationships/slideLayout" Target="/ppt/slideLayouts/slideLayout1.xml" Id="R5196fa2b4cb04bf9" /><Relationship Type="http://schemas.openxmlformats.org/officeDocument/2006/relationships/slideLayout" Target="/ppt/slideLayouts/slideLayout2.xml" Id="R15e347b981534ec2" /><Relationship Type="http://schemas.openxmlformats.org/officeDocument/2006/relationships/slideLayout" Target="/ppt/slideLayouts/slideLayout3.xml" Id="R38e0836578234b3f" /><Relationship Type="http://schemas.openxmlformats.org/officeDocument/2006/relationships/slideLayout" Target="/ppt/slideLayouts/slideLayout4.xml" Id="Rc72c5de5d25b4dc3" /><Relationship Type="http://schemas.openxmlformats.org/officeDocument/2006/relationships/slideLayout" Target="/ppt/slideLayouts/slideLayout5.xml" Id="R90687e635f2e4803" /><Relationship Type="http://schemas.openxmlformats.org/officeDocument/2006/relationships/slideLayout" Target="/ppt/slideLayouts/slideLayout6.xml" Id="R9db1358f1661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96fa2b4cb04bf9"/>
    <p:sldLayoutId xmlns:r="http://schemas.openxmlformats.org/officeDocument/2006/relationships" id="2147483650" r:id="R15e347b981534ec2"/>
    <p:sldLayoutId xmlns:r="http://schemas.openxmlformats.org/officeDocument/2006/relationships" id="2147483651" r:id="R38e0836578234b3f"/>
    <p:sldLayoutId xmlns:r="http://schemas.openxmlformats.org/officeDocument/2006/relationships" id="2147483652" r:id="Rc72c5de5d25b4dc3"/>
    <p:sldLayoutId xmlns:r="http://schemas.openxmlformats.org/officeDocument/2006/relationships" id="2147483653" r:id="R90687e635f2e4803"/>
    <p:sldLayoutId xmlns:r="http://schemas.openxmlformats.org/officeDocument/2006/relationships" id="2147483654" r:id="R9db1358f1661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mpany Standards">
      <a:dk1>
        <a:srgbClr val="000000"/>
      </a:dk1>
      <a:lt1>
        <a:srgbClr val="FFFFFF"/>
      </a:lt1>
      <a:dk2>
        <a:srgbClr val="142C48"/>
      </a:dk2>
      <a:lt2>
        <a:srgbClr val="D2DBE5"/>
      </a:lt2>
      <a:accent1>
        <a:srgbClr val="195DB6"/>
      </a:accent1>
      <a:accent2>
        <a:srgbClr val="4E759E"/>
      </a:accent2>
      <a:accent3>
        <a:srgbClr val="66788B"/>
      </a:accent3>
      <a:accent4>
        <a:srgbClr val="9C6722"/>
      </a:accent4>
      <a:accent5>
        <a:srgbClr val="455A73"/>
      </a:accent5>
      <a:accent6>
        <a:srgbClr val="547C70"/>
      </a:accent6>
      <a:hlink>
        <a:srgbClr val="195DB6"/>
      </a:hlink>
      <a:folHlink>
        <a:srgbClr val="5F4B8B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ompany Standard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efad2936443d9" /><Relationship Type="http://schemas.openxmlformats.org/officeDocument/2006/relationships/notesSlide" Target="/ppt/notesSlides/notesSlide1.xml" Id="R53cd6ecf534a40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72212eddb4219" /><Relationship Type="http://schemas.openxmlformats.org/officeDocument/2006/relationships/notesSlide" Target="/ppt/notesSlides/notesSlide2.xml" Id="Raa7b7c10243e44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83308c8514d9b" /><Relationship Type="http://schemas.openxmlformats.org/officeDocument/2006/relationships/notesSlide" Target="/ppt/notesSlides/notesSlide3.xml" Id="Rfc2238989d8645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cc3fd7f4941cb" /><Relationship Type="http://schemas.openxmlformats.org/officeDocument/2006/relationships/notesSlide" Target="/ppt/notesSlides/notesSlide4.xml" Id="Rfe1f367b0dd8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c8ecece4d4836" /><Relationship Type="http://schemas.openxmlformats.org/officeDocument/2006/relationships/notesSlide" Target="/ppt/notesSlides/notesSlide5.xml" Id="Rbc40b77b620747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ebc9b0df5455d" /><Relationship Type="http://schemas.openxmlformats.org/officeDocument/2006/relationships/notesSlide" Target="/ppt/notesSlides/notesSlide6.xml" Id="Rc5c2778a745e43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5b3ecb53e4888" /><Relationship Type="http://schemas.openxmlformats.org/officeDocument/2006/relationships/notesSlide" Target="/ppt/notesSlides/notesSlide7.xml" Id="R717232432cb84f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40e53e38847a7" /><Relationship Type="http://schemas.openxmlformats.org/officeDocument/2006/relationships/notesSlide" Target="/ppt/notesSlides/notesSlide8.xml" Id="Rf628002fdc3c48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fe50b690b430c" /><Relationship Type="http://schemas.openxmlformats.org/officeDocument/2006/relationships/notesSlide" Target="/ppt/notesSlides/notesSlide9.xml" Id="R487b364f433c4e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410ec7ac648c8" /><Relationship Type="http://schemas.openxmlformats.org/officeDocument/2006/relationships/notesSlide" Target="/ppt/notesSlides/notesSlide10.xml" Id="Rb64b11528fc343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c567fe40b41aa" /><Relationship Type="http://schemas.openxmlformats.org/officeDocument/2006/relationships/notesSlide" Target="/ppt/notesSlides/notesSlide11.xml" Id="Racc641ded7e34f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367b57e8946b9" /><Relationship Type="http://schemas.openxmlformats.org/officeDocument/2006/relationships/notesSlide" Target="/ppt/notesSlides/notesSlide12.xml" Id="R2966b5be5d6c45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92a324fe74a9d" /><Relationship Type="http://schemas.openxmlformats.org/officeDocument/2006/relationships/notesSlide" Target="/ppt/notesSlides/notesSlide13.xml" Id="Rfa5c666e207847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c5527f24b4b8f" /><Relationship Type="http://schemas.openxmlformats.org/officeDocument/2006/relationships/notesSlide" Target="/ppt/notesSlides/notesSlide14.xml" Id="Ra466aa20524c40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18a464efc4706" /><Relationship Type="http://schemas.openxmlformats.org/officeDocument/2006/relationships/notesSlide" Target="/ppt/notesSlides/notesSlide15.xml" Id="Rf538f8bcbe0842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6edea41df4374" /><Relationship Type="http://schemas.openxmlformats.org/officeDocument/2006/relationships/notesSlide" Target="/ppt/notesSlides/notesSlide16.xml" Id="R37d19308379b43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82601df3c4a48" /><Relationship Type="http://schemas.openxmlformats.org/officeDocument/2006/relationships/notesSlide" Target="/ppt/notesSlides/notesSlide17.xml" Id="R5d91daf0628646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c9e72668c402a" /><Relationship Type="http://schemas.openxmlformats.org/officeDocument/2006/relationships/notesSlide" Target="/ppt/notesSlides/notesSlide18.xml" Id="R55b6fa8b539243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2c565680c413f" /><Relationship Type="http://schemas.openxmlformats.org/officeDocument/2006/relationships/notesSlide" Target="/ppt/notesSlides/notesSlide19.xml" Id="R3109269a1a0645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f819e29414fab" /><Relationship Type="http://schemas.openxmlformats.org/officeDocument/2006/relationships/notesSlide" Target="/ppt/notesSlides/notesSlide20.xml" Id="Rdc913fb0226644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507D16-217E-443C-8ECB-9BF1B09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572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회사 SW 표준 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샘플 적용계획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27667B1-3964-4533-8FEE-7BD276E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rPr>
              <a:t>코딩 규칙 · UI/UX · 웹접근성 · 검증 증빙</a:t>
            </a:r>
          </a:p>
        </p:txBody>
      </p:sp>
      <p:sp>
        <p:nvSpPr>
          <p:cNvPr id="3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61337D46-567E-49B3-B2B6-51B6CD31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rPr>
              <a:t>v0.1  /  회사 승인 전 초안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5E2F0"/>
                </a:solidFill>
                <a:latin typeface="Noto Sans CJK KR"/>
                <a:ea typeface="Noto Sans CJK KR"/>
                <a:cs typeface="Noto Sans CJK KR"/>
              </a:rPr>
              <a:t>구현 전·미검증  /  2026.10.20</a:t>
            </a:r>
          </a:p>
        </p:txBody>
      </p:sp>
    </p:spTree>
    <p:extLst>
      <p:ext uri="{BB962C8B-B14F-4D97-AF65-F5344CB8AC3E}">
        <p14:creationId xmlns:p14="http://schemas.microsoft.com/office/powerpoint/2010/main" val="34915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AE413F-6B2D-4549-808E-6A99060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목적과 샘플 범위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3BBA931-558F-4E80-9D98-99947E2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회사 표준을 실제 업무 흐름에 적용하고, 구현과 시험 증거를 남깁니다.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5430BE0B-8844-4415-96D2-FFD05E1D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82E9EE-BD93-4E79-ACE6-C1386F7D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graphicFrame>
        <p:nvGraphicFramePr>
          <p:cNvPr id="5" name="scope-table">
            <a:extLst xmlns:a="http://schemas.openxmlformats.org/drawingml/2006/main">
              <a:ext uri="{FF2B5EF4-FFF2-40B4-BE49-F238E27FC236}">
                <a16:creationId xmlns:a16="http://schemas.microsoft.com/office/drawing/2014/main" id="{71A4230D-2164-4904-9952-ED275F58B9B8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343400"/>
                <a:gridCol w="4762500"/>
              </a:tblGrid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목표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완료 후 남길 근거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출처·판본·적용조건을 관리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원장, 회사 규칙, 예외대장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샘플 SW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요청 등록·첨부·관리 처리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가능한 웹·API·DB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코드·업무·접근성을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자동 결과와 수동 시험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원장으로 결과 생성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Excel, PPTX, HTML, 증빙 목록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14BD386E-1CC1-42C7-A46A-C07F8F27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현재 산출물은 적용계획입니다. 실제 구현·시험 결과는 CODEX 실행 후 갱신합니다.</a:t>
            </a:r>
          </a:p>
        </p:txBody>
      </p:sp>
    </p:spTree>
    <p:extLst>
      <p:ext uri="{BB962C8B-B14F-4D97-AF65-F5344CB8AC3E}">
        <p14:creationId xmlns:p14="http://schemas.microsoft.com/office/powerpoint/2010/main" val="725009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44DA28-5F17-4BBA-A873-AFD73DC8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적용 표준의 계층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61301B4-0FAE-4FA2-88CA-F2217868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법적·계약상 요구와 회사의 설계 결정을 필드로 구분합니다.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C8D29530-11B0-4442-80C0-381E625B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67AC0B-6A3F-47B1-8392-CDF16A8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graphicFrame>
        <p:nvGraphicFramePr>
          <p:cNvPr id="5" name="standard-hierarchy">
            <a:extLst xmlns:a="http://schemas.openxmlformats.org/drawingml/2006/main">
              <a:ext uri="{FF2B5EF4-FFF2-40B4-BE49-F238E27FC236}">
                <a16:creationId xmlns:a16="http://schemas.microsoft.com/office/drawing/2014/main" id="{B46B99C7-C698-45A8-8DF0-F2DEA186AB12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343400"/>
                <a:gridCol w="4762500"/>
              </a:tblGrid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방식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법령·계약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사업 주체·발주 요구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현행 법령과 계약 범위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공식 기준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KRDS, KWCAG, WCAG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원문 판본·번호·등급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회사 기준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코딩·보안·포용적 UX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MUST/SHOULD와 예외절차 정의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샘플 결정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기술 스택·화면·수치 목표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선택 이유와 검증 방법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3FBFAFA4-8AAA-42C3-95D3-7B170BC3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회사 예외 승인은 외부 기준의 위반을 통과로 바꾸지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62672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2B86DF-3CD7-4F23-9EB4-DC486940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MDR의 정식 명칭 확인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ACBD3CC-30B3-4C18-88A2-5E30C81F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정식 명칭·발행기관·판본·대상 제품이 확인될 때 적용 범위를 확정합니다.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2D241E0C-2EC7-412D-8F8B-B869D54B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940931-B6F3-4A9D-8242-13CB14D6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graphicFrame>
        <p:nvGraphicFramePr>
          <p:cNvPr id="5" name="mdr-branches">
            <a:extLst xmlns:a="http://schemas.openxmlformats.org/drawingml/2006/main">
              <a:ext uri="{FF2B5EF4-FFF2-40B4-BE49-F238E27FC236}">
                <a16:creationId xmlns:a16="http://schemas.microsoft.com/office/drawing/2014/main" id="{B7118CAA-D327-439B-8F9E-C5A5E09E3574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200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739140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명칭 확인 후의 분기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방향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MISRA를 의도한 경우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C/C++ 프로파일과 원문·도구 범위 확보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EU 의료기기 MDR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의도된 목적·제품 해당성부터 별도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사내·발주처 표준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 원문을 별도 ID로 등록하고 충돌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dr-current">
            <a:extLst xmlns:a="http://schemas.openxmlformats.org/drawingml/2006/main">
              <a:ext uri="{FF2B5EF4-FFF2-40B4-BE49-F238E27FC236}">
                <a16:creationId xmlns:a16="http://schemas.microsoft.com/office/drawing/2014/main" id="{DC0D9C8A-80C6-44A4-A3CF-8C082E9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795000"/>
                </a:solidFill>
                <a:latin typeface="Noto Sans CJK KR"/>
                <a:ea typeface="Noto Sans CJK KR"/>
                <a:cs typeface="Noto Sans CJK KR"/>
              </a:rPr>
              <a:t>현재 상태: MDR-000 확인필요</a:t>
            </a:r>
          </a:p>
        </p:txBody>
      </p:sp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FC59749B-6168-40AD-B2AA-56056346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공통 표준과 웹 샘플 작업은 진행하고, MDR 준수 판정은 보류합니다.</a:t>
            </a:r>
          </a:p>
        </p:txBody>
      </p:sp>
    </p:spTree>
    <p:extLst>
      <p:ext uri="{BB962C8B-B14F-4D97-AF65-F5344CB8AC3E}">
        <p14:creationId xmlns:p14="http://schemas.microsoft.com/office/powerpoint/2010/main" val="861938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70A5A4-8C46-4692-A0A7-C8821F53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기준 목록의 범위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EBD56B4-BCCB-43E4-AF02-3BC1BFC3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회사 실행 통제와 원문 검사체계를 각각 관리합니다.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FD36F3E2-1F87-4437-A682-16027C6E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1A473A-04F7-4CE7-B2AC-2C832C7B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graphicFrame>
        <p:nvGraphicFramePr>
          <p:cNvPr id="5" name="catalog-scope">
            <a:extLst xmlns:a="http://schemas.openxmlformats.org/drawingml/2006/main">
              <a:ext uri="{FF2B5EF4-FFF2-40B4-BE49-F238E27FC236}">
                <a16:creationId xmlns:a16="http://schemas.microsoft.com/office/drawing/2014/main" id="{6AAE3AFC-C0B8-4FE2-8530-6D75A4DBEF7A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1428750"/>
                <a:gridCol w="5962650"/>
              </a:tblGrid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묶음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목록 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코딩·보안·운영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사내 규칙 44개와 MDR 확인 1개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UI/UX 회사 통제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KRDS를 샘플에 적용할 통제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KWCAG 2.2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국내 검사 항목의 독립 관리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WCAG 2.2 A/AA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국제 성공기준의 독립 관리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포용적 UX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회사 강화 설계와 사용자 평가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검증·운영·보고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품질 게이트와 보고 정합성 통제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39C654CD-1621-4BA8-9700-367F7BA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서로 겹치는 기준을 단순 합산한 “전체 준수율”은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35323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5D5D21-3305-4CA7-8729-FA812640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KRDS 구조와 2025.8 변경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8A6CF7-D932-46A4-A532-A9166DC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디자인 원칙·스타일·컴포넌트·기본 패턴·서비스 패턴을 함께 검토합니다.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8AC439C2-0F45-422A-A326-98BD4E7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1483B5-E2FE-4E65-993E-626B2488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graphicFrame>
        <p:nvGraphicFramePr>
          <p:cNvPr id="5" name="krds-changes">
            <a:extLst xmlns:a="http://schemas.openxmlformats.org/drawingml/2006/main">
              <a:ext uri="{FF2B5EF4-FFF2-40B4-BE49-F238E27FC236}">
                <a16:creationId xmlns:a16="http://schemas.microsoft.com/office/drawing/2014/main" id="{AAE3164A-9B07-46DC-BA02-C6F4B2704EF9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5524500"/>
                <a:gridCol w="2819400"/>
              </a:tblGrid>
              <a:tr h="928688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원문 위치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928688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운영기관 식별자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회사 샘플은 자체 브랜드 사용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공공서비스 전환 시 기관 표시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본문 229~231쪽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대비표 1쪽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푸터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“개인정보 처리방침” 명칭과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다른 고지보다 명확한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본문 249쪽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대비표 2쪽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928688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로그인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사용자 관점의 분류와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 구성에 맞는 방식 배치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본문 1007쪽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대비표 2쪽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krds-index">
            <a:extLst xmlns:a="http://schemas.openxmlformats.org/drawingml/2006/main">
              <a:ext uri="{FF2B5EF4-FFF2-40B4-BE49-F238E27FC236}">
                <a16:creationId xmlns:a16="http://schemas.microsoft.com/office/drawing/2014/main" id="{75D4E950-9D2F-4493-B393-5FB08CC7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95DB6"/>
                </a:solidFill>
                <a:latin typeface="Noto Sans CJK KR"/>
                <a:ea typeface="Noto Sans CJK KR"/>
                <a:cs typeface="Noto Sans CJK KR"/>
              </a:rPr>
              <a:t>원문 탐색 색인: 구조 103 / 번호 후보 725 / 비번호 상호작용 52페이지</a:t>
            </a:r>
          </a:p>
        </p:txBody>
      </p:sp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712D9EF4-6AB3-4690-8410-2946C60E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번호 후보 목록만으로 비번호 스타일·상호작용·예외까지 검토했다고 판단하지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44796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74C686-BF2A-4B85-9A60-CE4A8BF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KWCAG와 WCAG의 적용 범위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8CDB2BF-777C-4894-9522-39EC81CB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두 기준의 원문 ID를 유지하고, 관련 항목만 연결합니다.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F3147158-D194-4E7A-B758-5EB54DB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1432F7-5B84-4644-876F-DAC2D36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graphicFrame>
        <p:nvGraphicFramePr>
          <p:cNvPr id="5" name="a11y-standards">
            <a:extLst xmlns:a="http://schemas.openxmlformats.org/drawingml/2006/main">
              <a:ext uri="{FF2B5EF4-FFF2-40B4-BE49-F238E27FC236}">
                <a16:creationId xmlns:a16="http://schemas.microsoft.com/office/drawing/2014/main" id="{DCB163E2-83F8-4BAA-8661-3224647BE53D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3905250"/>
                <a:gridCol w="4533900"/>
              </a:tblGrid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검토 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혼동 방지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KWCAG 2.2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4원칙·14지침·33항목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KS 원문 번호와 국내 기준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WCAG 2.2 AA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 31개 + AA 24개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전체 페이지·완결된 업무과정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마크업 검사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KWCAG 항목은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WCAG 2.2의 4.1.1은 삭제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조작 목표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AA 24×24 CSS px와 예외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주요 대상 44×44는 회사 기준(안)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266E997-F206-4E8B-986A-8A0A752B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조건부 항목도 보존하며, 기능 도입 시 적용성을 다시 판정합니다.</a:t>
            </a:r>
          </a:p>
        </p:txBody>
      </p:sp>
    </p:spTree>
    <p:extLst>
      <p:ext uri="{BB962C8B-B14F-4D97-AF65-F5344CB8AC3E}">
        <p14:creationId xmlns:p14="http://schemas.microsoft.com/office/powerpoint/2010/main" val="449297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636B31-092B-4537-B106-18CAB3E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장애와 사용환경을 고려한 UX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EC71017-2175-4E12-9518-54EEE805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12개 회사 강화 규칙을 실제 사용자 과업과 연결합니다.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1ABED257-4459-4EFE-B125-7C8D0155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4E4580-084A-432D-8CFC-80DF688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graphicFrame>
        <p:nvGraphicFramePr>
          <p:cNvPr id="5" name="inclusive-ux">
            <a:extLst xmlns:a="http://schemas.openxmlformats.org/drawingml/2006/main">
              <a:ext uri="{FF2B5EF4-FFF2-40B4-BE49-F238E27FC236}">
                <a16:creationId xmlns:a16="http://schemas.microsoft.com/office/drawing/2014/main" id="{7556208D-739D-41AD-97B7-15927315F74E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486650"/>
              </a:tblGrid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사용 조건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전맹·저시력·색각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낭독 의미, 확대·고대비, 색 외 상태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청각·언어 제약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텍스트 알림·문의와 미디어 대체수단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상지·운동·음성입력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키보드, 큰 타깃, 드래그 대안, 이름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인지·학습·고령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쉬운 문구, 단계 안내, 반복입력·오류 복구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광과민·상황적 제약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모션 감소, 입력 보존, 느린 연결 복구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F3A2C3F7-2283-4EB6-85FF-FB8FE917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장애정보 수집 없이 선호 설정을 제공하고, 실제 당사자 평가 여부를 기록합니다.</a:t>
            </a:r>
          </a:p>
        </p:txBody>
      </p:sp>
    </p:spTree>
    <p:extLst>
      <p:ext uri="{BB962C8B-B14F-4D97-AF65-F5344CB8AC3E}">
        <p14:creationId xmlns:p14="http://schemas.microsoft.com/office/powerpoint/2010/main" val="2117252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46DF2A-EE0B-4460-97E8-BA91CE61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샘플 시스템과 8개 화면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3BC844A-496B-433D-AF7D-1F0AB366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회사 브랜드의 업무요청·첨부·처리현황 관리 웹을 구현합니다.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17BEC749-1056-4DA0-873C-77C2B18C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C0F97B-F1BB-4FB2-984D-5573EAC9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graphicFrame>
        <p:nvGraphicFramePr>
          <p:cNvPr id="5" name="stack">
            <a:extLst xmlns:a="http://schemas.openxmlformats.org/drawingml/2006/main">
              <a:ext uri="{FF2B5EF4-FFF2-40B4-BE49-F238E27FC236}">
                <a16:creationId xmlns:a16="http://schemas.microsoft.com/office/drawing/2014/main" id="{755B9E68-1F69-4E9A-944B-AE3C67F41B57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1143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3695700"/>
                <a:gridCol w="3743325"/>
              </a:tblGrid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웹 8000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API 8001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영속 데이터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React + TypeScript strict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ASP.NET Core .NET 10 LTS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EF Core + SQLite / fc_ 접두어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screens">
            <a:extLst xmlns:a="http://schemas.openxmlformats.org/drawingml/2006/main">
              <a:ext uri="{FF2B5EF4-FFF2-40B4-BE49-F238E27FC236}">
                <a16:creationId xmlns:a16="http://schemas.microsoft.com/office/drawing/2014/main" id="{7F96E6F1-7252-420B-B931-A21E302A82F5}"/>
              </a:ext>
            </a:extLst>
          </p:cNvPr>
          <p:cNvGraphicFramePr/>
          <p:nvPr/>
        </p:nvGraphicFramePr>
        <p:xfrm>
          <a:off xmlns:a="http://schemas.openxmlformats.org/drawingml/2006/main" x="685800" y="3143250"/>
          <a:ext xmlns:a="http://schemas.openxmlformats.org/drawingml/2006/main" cx="10820400" cy="2552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6381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일반 사용자 화면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관리·공통 화면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381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S01 로그인 / S02 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S05 단계형 등록·수정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S03 요청 목록·검색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S06 관리자 처리·이력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381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S04 상세·첨부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S07 도움말 / S08 컴포넌트 갤러리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089656D-633E-465C-B1BF-B59CE951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서버 인증·객체 권한·실제 DB 저장을 구현하고, 가상 데이터로 재현합니다.</a:t>
            </a:r>
          </a:p>
        </p:txBody>
      </p:sp>
    </p:spTree>
    <p:extLst>
      <p:ext uri="{BB962C8B-B14F-4D97-AF65-F5344CB8AC3E}">
        <p14:creationId xmlns:p14="http://schemas.microsoft.com/office/powerpoint/2010/main" val="1680261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9CD4A1-C616-4875-8690-90124C1B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C#·TypeScript 코딩 프로파일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BFE4D10-B473-4FBB-B6DC-CEF2765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언어별 검사 설정과 공통 업무 규칙을 함께 적용합니다.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877C06A8-A665-443C-B3F8-6ACA135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7F1EF2-8B21-4F9E-BB7C-43CCE98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graphicFrame>
        <p:nvGraphicFramePr>
          <p:cNvPr id="5" name="language-rules">
            <a:extLst xmlns:a="http://schemas.openxmlformats.org/drawingml/2006/main">
              <a:ext uri="{FF2B5EF4-FFF2-40B4-BE49-F238E27FC236}">
                <a16:creationId xmlns:a16="http://schemas.microsoft.com/office/drawing/2014/main" id="{37240538-ECAB-4F40-8E68-A605025032BC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5429250"/>
                <a:gridCol w="348615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근거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TypeScript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strict, 경계 입력 검증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Promise 실패 처리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타입 검사와 ESLint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C#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nullable, 분석기, using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취소 전달과 async I/O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빌드·분석기·단위시험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공통 설계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업무규칙·UI·DB 책임 분리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제출·동시 수정 제어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코드 리뷰와 실패경로 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일관성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명명·서식·API 오류 계약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설정과 비밀의 분리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설정 파일과 계약시험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9C457CD-F5CB-499F-8D61-320B37D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실제 코드가 없는 언어까지 적용 완료로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83045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BD62D-5511-4717-A02C-9F5282B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보안 통제와 실패경로 시험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A32C3EC-0F72-4597-80C9-ECEFB411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로그인·인가·첨부·내보내기를 실제 서버 동작으로 검증합니다.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2426074E-8879-4459-AA93-11C4ED0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538EC1-EDC2-4FA4-9C0D-F0459CE1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graphicFrame>
        <p:nvGraphicFramePr>
          <p:cNvPr id="5" name="security-tests">
            <a:extLst xmlns:a="http://schemas.openxmlformats.org/drawingml/2006/main">
              <a:ext uri="{FF2B5EF4-FFF2-40B4-BE49-F238E27FC236}">
                <a16:creationId xmlns:a16="http://schemas.microsoft.com/office/drawing/2014/main" id="{81445A19-84FD-4FFE-8B68-605B48976288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219575"/>
                <a:gridCol w="4219575"/>
              </a:tblGrid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규칙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예상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SEC-005 인가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역할과 객체 소유권 검사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타 사용자 ID로 직접 API 호출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SEC-009 업로드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형식·크기·권한·저장경로 통제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MIME 불일치·경로조작 거부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SEC-007 세션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쿠키 속성·만료·폐기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로그아웃 후 세션 재사용 거부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SEC-015 내보내기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사용자 입력을 문자열로 출력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수식 시작문자 입력값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ED663B27-335E-4494-95F0-7EA73EF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검사 엔진을 사용할 수 없으면 미실행과 운영 전 조치를 함께 남깁니다.</a:t>
            </a:r>
          </a:p>
        </p:txBody>
      </p:sp>
    </p:spTree>
    <p:extLst>
      <p:ext uri="{BB962C8B-B14F-4D97-AF65-F5344CB8AC3E}">
        <p14:creationId xmlns:p14="http://schemas.microsoft.com/office/powerpoint/2010/main" val="773889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45F962-E3DE-4158-B34D-9A402AD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입력 오류와 완료 안내의 적용 예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2B585E4-F6B4-486D-B600-928666A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아래는 적용 예정 설계입니다. 실제 화면과 성적은 구현 후 추가합니다.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91F98B82-2F80-4F11-93E7-100DA4BC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8F2AA2-8BCC-415F-B1FA-72E6143F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graphicFrame>
        <p:nvGraphicFramePr>
          <p:cNvPr id="5" name="form-example">
            <a:extLst xmlns:a="http://schemas.openxmlformats.org/drawingml/2006/main">
              <a:ext uri="{FF2B5EF4-FFF2-40B4-BE49-F238E27FC236}">
                <a16:creationId xmlns:a16="http://schemas.microsoft.com/office/drawing/2014/main" id="{42431BED-94D3-49BA-9D37-86D4A12F9F48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5334000"/>
                <a:gridCol w="358140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남길 증빙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필수값 누락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오류 요약과 필드 연결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입력값 보존·수정방법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화면, DOM, 키보드 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첨부 실패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파일별 이름·상태·재시도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버튼 업로드 대안 제공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실패 주입·낭독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 진행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제출 제어와 진행 알림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이중 클릭·지연 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 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완료 의미와 후속 행동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업무 E2E·상태 낭독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C011DFD8-1679-4ED0-8C4B-760C756C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연결 기준 예: UI-056·068·069, WCAG 3.3.1·3.3.2·4.1.3.</a:t>
            </a:r>
          </a:p>
        </p:txBody>
      </p:sp>
    </p:spTree>
    <p:extLst>
      <p:ext uri="{BB962C8B-B14F-4D97-AF65-F5344CB8AC3E}">
        <p14:creationId xmlns:p14="http://schemas.microsoft.com/office/powerpoint/2010/main" val="1047132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2D4037-FF5F-4B11-B2D9-27C6F8EA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키보드·모달·화면전환의 적용 예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A6A56FA-6454-48E2-A032-3CB898C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동작과 초점 처리를 함께 구현하고, 전체 업무 흐름에서 확인합니다.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D009F2FE-C21B-461F-A0AA-89FC8444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A21959-88E0-48AA-AEB7-63B65579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graphicFrame>
        <p:nvGraphicFramePr>
          <p:cNvPr id="5" name="keyboard-example">
            <a:extLst xmlns:a="http://schemas.openxmlformats.org/drawingml/2006/main">
              <a:ext uri="{FF2B5EF4-FFF2-40B4-BE49-F238E27FC236}">
                <a16:creationId xmlns:a16="http://schemas.microsoft.com/office/drawing/2014/main" id="{1046DE8B-A3AB-4A86-8D80-319913565C5D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5334000"/>
                <a:gridCol w="358140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예상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모달 진입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 있는 초기 초점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이름·설명·상태 전달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Tab·Shift+Tab·낭독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닫기·취소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Esc와 닫기 조작 제공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종료 후 초점 복귀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키보드 취소·복귀 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SPA 전환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제목·현재 위치 갱신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맥락에 맞는 초점 이동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목록·상세 왕복 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드래그 기능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클릭·탭 대안 제공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키보드 대안도 별도 제공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포인터·키보드 각각 시험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CFA2A0C9-8159-4515-AE83-65B03D9A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ARIA 속성 설정만으로 키보드 동작과 초점 관리가 완성되지는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983224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F8BBC7-5C29-4FAE-AF13-CA118CF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확대·대비·반응형 시험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2426492-237D-484F-BEFA-B6CD049C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기본 화면과 모든 제공 테마에서 내용과 기능을 확인합니다.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AD72D273-40D0-4479-AC07-6B5E6A82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D1AF07-54DD-4CDB-9F5F-7BF98DC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graphicFrame>
        <p:nvGraphicFramePr>
          <p:cNvPr id="5" name="visual-a11y">
            <a:extLst xmlns:a="http://schemas.openxmlformats.org/drawingml/2006/main">
              <a:ext uri="{FF2B5EF4-FFF2-40B4-BE49-F238E27FC236}">
                <a16:creationId xmlns:a16="http://schemas.microsoft.com/office/drawing/2014/main" id="{3691ABDA-D2E0-4E7F-9280-A8D5DCF8F591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796290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검토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적용·시험 예정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본문 가독성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KRDS 최소 16px, Pretendard GOV 기본 17px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행간 150% 기준을 토큰에 반영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WCAG 대비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일반 글자 4.5:1, 큰 글자 3:1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필요한 비텍스트 UI 3:1과 예외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확대·리플로우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텍스트 200%, 320 CSS px 폭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400% 확대·문자 간격도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반응형·테마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모바일 표·탐색 대안, 초점 가림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forced-colors·모션 감소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E7CF5124-E55F-46F3-832C-25CD50CF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KRDS 선명한 모드: 본문 15:1 · 제목/레이블/아이콘 7:1 · 시각 보조 4.5:1 (123쪽).</a:t>
            </a:r>
          </a:p>
        </p:txBody>
      </p:sp>
    </p:spTree>
    <p:extLst>
      <p:ext uri="{BB962C8B-B14F-4D97-AF65-F5344CB8AC3E}">
        <p14:creationId xmlns:p14="http://schemas.microsoft.com/office/powerpoint/2010/main" val="18604550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9FD1DD-E6B3-46F7-BC53-D6E45CF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수동 접근성 및 사용자 시험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E0CBED1-6C35-443D-82BF-AD80E180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자동 검사와 실제 보조기술·사용자 과업 평가를 구분합니다.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05BC8865-18F6-461B-AD60-A80758E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65630A-D161-49D1-91AD-EA73D71C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graphicFrame>
        <p:nvGraphicFramePr>
          <p:cNvPr id="5" name="manual-tests">
            <a:extLst xmlns:a="http://schemas.openxmlformats.org/drawingml/2006/main">
              <a:ext uri="{FF2B5EF4-FFF2-40B4-BE49-F238E27FC236}">
                <a16:creationId xmlns:a16="http://schemas.microsoft.com/office/drawing/2014/main" id="{0E39FFAE-C838-4347-AC3D-5F795C931EFD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5334000"/>
                <a:gridCol w="2343150"/>
              </a:tblGrid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시험 환경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핵심 과업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키보드만 사용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로그인·등록·첨부·관리 처리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미실행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Windows + NVDA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Chrome/Edge 및 가능 시 Firefox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미실행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모바일 보조기술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TalkBack+Chrome, VoiceOver+Safari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미실행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사용자 참여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대표 과업의 성공·어려움·복구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미실행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83934354-5DE4-4DA2-9D27-8C9C7BC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환경이 없으면 절차와 예상결과를 남기며, 자동검사로 수동 통과를 대신하지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735835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F25A2D-ED2F-424D-B729-CEBDE32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적용·구현·검증 상태의 분리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4DACCA6-DFD3-43F0-AD19-3210FE81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미실행·미확정·예외를 집계에서 숨기지 않습니다.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FF8FFEB5-936A-4353-AB70-DE1924F3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A9D414-3CCE-483A-8F39-8B7A58E1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graphicFrame>
        <p:nvGraphicFramePr>
          <p:cNvPr id="5" name="status-model">
            <a:extLst xmlns:a="http://schemas.openxmlformats.org/drawingml/2006/main">
              <a:ext uri="{FF2B5EF4-FFF2-40B4-BE49-F238E27FC236}">
                <a16:creationId xmlns:a16="http://schemas.microsoft.com/office/drawing/2014/main" id="{03139929-2A8F-4B2C-8700-A6918573CA1A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5429250"/>
                <a:gridCol w="3390900"/>
              </a:tblGrid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관리 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현재 작성 원칙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/ 조건부 / 해당없음 / 확인필요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기능과 원문으로 근거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계획 / 진행 / 구현 / 예외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샘플 전 항목은 계획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미실행 / 통과 / 실패 / 부분확인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증거가 있어야 통과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원문 검토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/ 재확인필요 / 미확인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누락·등급·판본 차이 보존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2401578C-1E0D-477C-BD49-9E4E011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현재 구현률·검증완료율은 산정 전입니다. 표준별로 분모와 제외 사유를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8829083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A92FA0-BDCF-4A9D-87B2-59B35B31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원장과 적용 증빙의 연결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FAC7C48-7495-4A3B-9115-2DE7896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표준 정의와 적용 기록을 분리하고, 같은 데이터로 보고서를 생성합니다.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EECAC533-82BB-4465-B0E8-18470DA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01F1CA-5B5A-474A-9990-000EA22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graphicFrame>
        <p:nvGraphicFramePr>
          <p:cNvPr id="5" name="evidence-mapping">
            <a:extLst xmlns:a="http://schemas.openxmlformats.org/drawingml/2006/main">
              <a:ext uri="{FF2B5EF4-FFF2-40B4-BE49-F238E27FC236}">
                <a16:creationId xmlns:a16="http://schemas.microsoft.com/office/drawing/2014/main" id="{63EFD257-715D-4390-B313-F665C1212B8F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5048250"/>
                <a:gridCol w="3486150"/>
              </a:tblGrid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예정 필드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표준 원장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규칙 ID, 출처·판본, 적용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화면·컴포넌트 요구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기록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구현 파일·심볼, 시험 ID,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코드 commit과 시험 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증빙 원장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실행시각·도구·환경·결과·hash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로그·실제 화면·수동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보고서 생성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JSON 원장과 evidence manifest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Excel·PPTX·HTML 동일 수치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03DF55FB-A461-485C-BC33-8A53095F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예정 코드 경로는 계획으로 표시합니다. 파일명만 존재해도 통과로 집계하지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515295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1B8AD-CBDB-4A2F-A9EB-ABD29A77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초기 회사 품질 게이트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C25B4A4-7E09-49D4-8166-F386F15E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아래 수치는 회사 제안입니다. 외부 표준의 의무값과 구별합니다.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1A38765B-2B84-451E-B521-7FA500A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DBC745-83BE-4CED-8D67-71DCF88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graphicFrame>
        <p:nvGraphicFramePr>
          <p:cNvPr id="5" name="quality-gates">
            <a:extLst xmlns:a="http://schemas.openxmlformats.org/drawingml/2006/main">
              <a:ext uri="{FF2B5EF4-FFF2-40B4-BE49-F238E27FC236}">
                <a16:creationId xmlns:a16="http://schemas.microsoft.com/office/drawing/2014/main" id="{4947CD89-9218-4EBC-A463-8C04DB147474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5238750"/>
                <a:gridCol w="358140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초기 목표안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판정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정적 품질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build·type·lint·format 오류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자체 작성 코드와 제외범위 명시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복잡도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순환복잡도 10, 중첩 3 초과 경고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분해 또는 승인된 회사 예외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핵심 테스트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line 80%, branch 70% 목표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업무·권한·실패경로 충족 병행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접근성·보안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심각한 자동 접근성 미해결 0</a:t>
                      </a:r>
                    </a:p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적용되는 고위험 취약점 미조치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수동·전체 기준 판정 별도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43720035-83FE-407E-A135-FFD6CA36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자동 오류 0건만으로 WCAG 준수·법적 적합성·외부 인증을 선언하지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897120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FEF84B-E8AF-4AB7-A04F-01DFAEB1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구현 단계와 산출물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65A456F-ABC2-4B77-AEC3-4606E7B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각 단계에서 기준·코드·검증 기록을 함께 갱신합니다.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306E7D1F-8210-480A-B02A-D845DBC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4824F1-A42F-4E92-9224-D6948C19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graphicFrame>
        <p:nvGraphicFramePr>
          <p:cNvPr id="5" name="phases-deliverables">
            <a:extLst xmlns:a="http://schemas.openxmlformats.org/drawingml/2006/main">
              <a:ext uri="{FF2B5EF4-FFF2-40B4-BE49-F238E27FC236}">
                <a16:creationId xmlns:a16="http://schemas.microsoft.com/office/drawing/2014/main" id="{C2D4F580-F566-40BB-9EE5-3CDB62D16865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762500"/>
                <a:gridCol w="3867150"/>
              </a:tblGrid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주요 작업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산출물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 기준 정립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조사, 적용성·MDR·출처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회사 표준과 적용대장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2. 기반 구현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공통 UI, 인증·인가, 실제 DB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가능한 수직 업무흐름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3. 기능 완성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8개 화면, 오류·첨부·상태 처리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샘플 SW와 컴포넌트 갤러리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4. 검증·보고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자동·수동 시험, 보완, 원장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Excel·PPTX·HTML·증빙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480D149A-6985-436D-B46D-A3AFA86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setup·dev·verify·test:e2e·test:a11y·reports 명령과 CHANGE_SUMMARY.md를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5081489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9C880A-7318-461E-B32B-A278A99E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42C48"/>
                </a:solidFill>
                <a:latin typeface="Noto Sans CJK KR"/>
                <a:ea typeface="Noto Sans CJK KR"/>
                <a:cs typeface="Noto Sans CJK KR"/>
              </a:rPr>
              <a:t>남은 확인사항과 운영 전 조치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7F12FE4-EFD3-47A6-A8F6-931F8474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확인되지 않은 항목을 공개하고, 책임자와 후속 조건을 정합니다.</a:t>
            </a:r>
          </a:p>
        </p:txBody>
      </p:sp>
      <p:sp>
        <p:nvSpPr>
          <p:cNvPr id="3" name="stage-footer">
            <a:extLst xmlns:a="http://schemas.openxmlformats.org/drawingml/2006/main">
              <a:ext uri="{FF2B5EF4-FFF2-40B4-BE49-F238E27FC236}">
                <a16:creationId xmlns:a16="http://schemas.microsoft.com/office/drawing/2014/main" id="{9B006307-8A00-40D7-A74A-DDFEBAB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v0.1  /  적용계획  /  구현 전·미검증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577A96-029C-4ADC-9D3F-D56804F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graphicFrame>
        <p:nvGraphicFramePr>
          <p:cNvPr id="5" name="open-items">
            <a:extLst xmlns:a="http://schemas.openxmlformats.org/drawingml/2006/main">
              <a:ext uri="{FF2B5EF4-FFF2-40B4-BE49-F238E27FC236}">
                <a16:creationId xmlns:a16="http://schemas.microsoft.com/office/drawing/2014/main" id="{35DBCCF8-F45E-4448-AD9F-D9C969A2554F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486650"/>
              </a:tblGrid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확인사항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다음 조치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MDR·사업 범위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정식 표준명·원문·적용 제품을 확정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원문 미확인·변경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추출 후보·비번호 규칙·등급을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수동·당사자 평가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장비·참여자·일정·검사자를 지정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운영 적용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인증·보안·백업·배포환경을 최종 검토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회사 기준 승인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82C4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규칙·임계치·예외 책임자와 버전 확정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tail-note">
            <a:extLst xmlns:a="http://schemas.openxmlformats.org/drawingml/2006/main">
              <a:ext uri="{FF2B5EF4-FFF2-40B4-BE49-F238E27FC236}">
                <a16:creationId xmlns:a16="http://schemas.microsoft.com/office/drawing/2014/main" id="{D411D663-63C5-4613-8E1E-158CB927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477"/>
                </a:solidFill>
                <a:latin typeface="Noto Sans CJK KR"/>
                <a:ea typeface="Noto Sans CJK KR"/>
                <a:cs typeface="Noto Sans CJK KR"/>
              </a:rPr>
              <a:t>본 계획서의 다음 버전에는 실제 화면·코드·시험 결과와 잔여 문제를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815516099"/>
      </p:ext>
    </p:extLst>
  </p:cSld>
</p:sld>
</file>

<file path=ppt/theme/theme1.xml><?xml version="1.0" encoding="utf-8"?>
<a:theme xmlns:a="http://schemas.openxmlformats.org/drawingml/2006/main" name="ChatGPT">
  <a:themeElements>
    <a:clrScheme name="Company Standards">
      <a:dk1>
        <a:srgbClr val="000000"/>
      </a:dk1>
      <a:lt1>
        <a:srgbClr val="FFFFFF"/>
      </a:lt1>
      <a:dk2>
        <a:srgbClr val="142C48"/>
      </a:dk2>
      <a:lt2>
        <a:srgbClr val="D2DBE5"/>
      </a:lt2>
      <a:accent1>
        <a:srgbClr val="195DB6"/>
      </a:accent1>
      <a:accent2>
        <a:srgbClr val="4E759E"/>
      </a:accent2>
      <a:accent3>
        <a:srgbClr val="66788B"/>
      </a:accent3>
      <a:accent4>
        <a:srgbClr val="9C6722"/>
      </a:accent4>
      <a:accent5>
        <a:srgbClr val="455A73"/>
      </a:accent5>
      <a:accent6>
        <a:srgbClr val="547C70"/>
      </a:accent6>
      <a:hlink>
        <a:srgbClr val="195DB6"/>
      </a:hlink>
      <a:folHlink>
        <a:srgbClr val="5F4B8B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ompany Standard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2026-10-20T05:15:44.8920000Z</dcterms:created>
  <dcterms:modified xsi:type="dcterms:W3CDTF">2026-10-20T05:15:44.8920000Z</dcterms:modified>
</coreProperties>
</file>